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ad7b7ab3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ad7b7ab3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ad7b7ab30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ad7b7ab30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ad7b7ab30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ad7b7ab30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ad7b7ab302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ad7b7ab30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ad7b7ab302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ad7b7ab302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ad7b7ab302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ad7b7ab302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ad7b7ab302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ad7b7ab302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ad7b7ab302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ad7b7ab302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d7b7ab302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ad7b7ab302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ad7b7ab30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ad7b7ab30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ad7b7ab302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ad7b7ab302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ad7b7ab302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ad7b7ab302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ad7b7ab302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2ad7b7ab302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mic Sans MS"/>
                <a:ea typeface="Comic Sans MS"/>
                <a:cs typeface="Comic Sans MS"/>
                <a:sym typeface="Comic Sans MS"/>
              </a:rPr>
              <a:t>Lecture 10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Function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Topics</a:t>
            </a:r>
            <a:endParaRPr b="1" sz="28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Char char="●"/>
            </a:pPr>
            <a:r>
              <a:rPr lang="en" sz="2000">
                <a:latin typeface="Comic Sans MS"/>
                <a:ea typeface="Comic Sans MS"/>
                <a:cs typeface="Comic Sans MS"/>
                <a:sym typeface="Comic Sans MS"/>
              </a:rPr>
              <a:t>Invertibility and Inverse Functions</a:t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mic Sans MS"/>
              <a:buChar char="●"/>
            </a:pPr>
            <a:r>
              <a:rPr lang="en" sz="2000">
                <a:latin typeface="Comic Sans MS"/>
                <a:ea typeface="Comic Sans MS"/>
                <a:cs typeface="Comic Sans MS"/>
                <a:sym typeface="Comic Sans MS"/>
              </a:rPr>
              <a:t>Function Compositions</a:t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5106"/>
              <a:buFont typeface="Arial"/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Inverse Functions and Compositions of Functions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Let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be a one-to-one correspondence from the set </a:t>
            </a:r>
            <a:r>
              <a:rPr b="1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to the set </a:t>
            </a:r>
            <a:r>
              <a:rPr b="1" i="1" lang="en" sz="1900">
                <a:solidFill>
                  <a:schemeClr val="dk1"/>
                </a:solidFill>
              </a:rPr>
              <a:t>B</a:t>
            </a:r>
            <a:r>
              <a:rPr lang="en" sz="1900">
                <a:solidFill>
                  <a:schemeClr val="dk1"/>
                </a:solidFill>
              </a:rPr>
              <a:t>. The </a:t>
            </a:r>
            <a:r>
              <a:rPr b="1" i="1" lang="en" sz="1900">
                <a:solidFill>
                  <a:schemeClr val="dk1"/>
                </a:solidFill>
              </a:rPr>
              <a:t>inverse function of f</a:t>
            </a:r>
            <a:r>
              <a:rPr lang="en" sz="1900">
                <a:solidFill>
                  <a:schemeClr val="dk1"/>
                </a:solidFill>
              </a:rPr>
              <a:t> is the function that assigns to an element </a:t>
            </a:r>
            <a:r>
              <a:rPr b="1" i="1" lang="en" sz="1900">
                <a:solidFill>
                  <a:schemeClr val="dk1"/>
                </a:solidFill>
              </a:rPr>
              <a:t>b</a:t>
            </a:r>
            <a:r>
              <a:rPr lang="en" sz="1900">
                <a:solidFill>
                  <a:schemeClr val="dk1"/>
                </a:solidFill>
              </a:rPr>
              <a:t> belonging to </a:t>
            </a:r>
            <a:r>
              <a:rPr b="1" i="1" lang="en" sz="1900">
                <a:solidFill>
                  <a:schemeClr val="dk1"/>
                </a:solidFill>
              </a:rPr>
              <a:t>B</a:t>
            </a:r>
            <a:r>
              <a:rPr lang="en" sz="1900">
                <a:solidFill>
                  <a:schemeClr val="dk1"/>
                </a:solidFill>
              </a:rPr>
              <a:t> to the unique element </a:t>
            </a:r>
            <a:r>
              <a:rPr b="1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in </a:t>
            </a:r>
            <a:r>
              <a:rPr b="1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such that </a:t>
            </a:r>
            <a:r>
              <a:rPr b="1" i="1" lang="en" sz="1900">
                <a:solidFill>
                  <a:schemeClr val="dk1"/>
                </a:solidFill>
              </a:rPr>
              <a:t>f(a) = b</a:t>
            </a:r>
            <a:r>
              <a:rPr lang="en" sz="1900">
                <a:solidFill>
                  <a:schemeClr val="dk1"/>
                </a:solidFill>
              </a:rPr>
              <a:t>. The inverse function of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is denoted by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b="1" baseline="30000" i="1" lang="en" sz="2200">
                <a:solidFill>
                  <a:schemeClr val="dk1"/>
                </a:solidFill>
              </a:rPr>
              <a:t> -1</a:t>
            </a:r>
            <a:r>
              <a:rPr lang="en" sz="1900">
                <a:solidFill>
                  <a:schemeClr val="dk1"/>
                </a:solidFill>
              </a:rPr>
              <a:t>. Hence,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b="1" baseline="30000" i="1" lang="en" sz="2200">
                <a:solidFill>
                  <a:schemeClr val="dk1"/>
                </a:solidFill>
              </a:rPr>
              <a:t> -1</a:t>
            </a:r>
            <a:r>
              <a:rPr b="1" i="1" lang="en" sz="1900">
                <a:solidFill>
                  <a:schemeClr val="dk1"/>
                </a:solidFill>
              </a:rPr>
              <a:t>(b) = a</a:t>
            </a:r>
            <a:r>
              <a:rPr lang="en" sz="1900">
                <a:solidFill>
                  <a:schemeClr val="dk1"/>
                </a:solidFill>
              </a:rPr>
              <a:t> when </a:t>
            </a:r>
            <a:r>
              <a:rPr b="1" i="1" lang="en" sz="1900">
                <a:solidFill>
                  <a:schemeClr val="dk1"/>
                </a:solidFill>
              </a:rPr>
              <a:t>f(a) = b</a:t>
            </a:r>
            <a:r>
              <a:rPr lang="en" sz="1900">
                <a:solidFill>
                  <a:schemeClr val="dk1"/>
                </a:solidFill>
              </a:rPr>
              <a:t>. </a:t>
            </a:r>
            <a:endParaRPr sz="2000">
              <a:solidFill>
                <a:schemeClr val="dk1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23300" y="2571750"/>
            <a:ext cx="4497400" cy="226627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 txBox="1"/>
          <p:nvPr/>
        </p:nvSpPr>
        <p:spPr>
          <a:xfrm>
            <a:off x="1351600" y="4703625"/>
            <a:ext cx="62277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Fig : </a:t>
            </a:r>
            <a:r>
              <a:rPr b="1" lang="en" sz="1600"/>
              <a:t>The function </a:t>
            </a:r>
            <a:r>
              <a:rPr b="1" i="1" lang="en" sz="1600">
                <a:solidFill>
                  <a:schemeClr val="dk1"/>
                </a:solidFill>
              </a:rPr>
              <a:t>f</a:t>
            </a:r>
            <a:r>
              <a:rPr b="1" baseline="30000" i="1" lang="en" sz="1600">
                <a:solidFill>
                  <a:schemeClr val="dk1"/>
                </a:solidFill>
              </a:rPr>
              <a:t> -1</a:t>
            </a:r>
            <a:r>
              <a:rPr b="1" lang="en" sz="1600"/>
              <a:t> is the inverse function of </a:t>
            </a:r>
            <a:r>
              <a:rPr b="1" i="1" lang="en" sz="1600"/>
              <a:t>f</a:t>
            </a:r>
            <a:endParaRPr b="1" i="1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Inverse Functions and Compositions of Functions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A </a:t>
            </a:r>
            <a:r>
              <a:rPr b="1" lang="en" sz="1900">
                <a:solidFill>
                  <a:schemeClr val="dk1"/>
                </a:solidFill>
              </a:rPr>
              <a:t>one-to-one correspondence</a:t>
            </a:r>
            <a:r>
              <a:rPr lang="en" sz="1900">
                <a:solidFill>
                  <a:schemeClr val="dk1"/>
                </a:solidFill>
              </a:rPr>
              <a:t> is called </a:t>
            </a:r>
            <a:r>
              <a:rPr b="1" lang="en" sz="1900">
                <a:solidFill>
                  <a:schemeClr val="dk1"/>
                </a:solidFill>
              </a:rPr>
              <a:t>invertible</a:t>
            </a:r>
            <a:r>
              <a:rPr lang="en" sz="1900">
                <a:solidFill>
                  <a:schemeClr val="dk1"/>
                </a:solidFill>
              </a:rPr>
              <a:t> because we can </a:t>
            </a:r>
            <a:r>
              <a:rPr b="1" lang="en" sz="1900">
                <a:solidFill>
                  <a:schemeClr val="dk1"/>
                </a:solidFill>
              </a:rPr>
              <a:t>define</a:t>
            </a:r>
            <a:r>
              <a:rPr lang="en" sz="1900">
                <a:solidFill>
                  <a:schemeClr val="dk1"/>
                </a:solidFill>
              </a:rPr>
              <a:t> an inverse of this function. A function is </a:t>
            </a:r>
            <a:r>
              <a:rPr b="1" lang="en" sz="1900">
                <a:solidFill>
                  <a:schemeClr val="dk1"/>
                </a:solidFill>
              </a:rPr>
              <a:t>not invertible</a:t>
            </a:r>
            <a:r>
              <a:rPr lang="en" sz="1900">
                <a:solidFill>
                  <a:schemeClr val="dk1"/>
                </a:solidFill>
              </a:rPr>
              <a:t> if it is </a:t>
            </a:r>
            <a:r>
              <a:rPr b="1" lang="en" sz="1900">
                <a:solidFill>
                  <a:schemeClr val="dk1"/>
                </a:solidFill>
              </a:rPr>
              <a:t>not a one-to-one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b="1" lang="en" sz="1900">
                <a:solidFill>
                  <a:schemeClr val="dk1"/>
                </a:solidFill>
              </a:rPr>
              <a:t>correspondence</a:t>
            </a:r>
            <a:r>
              <a:rPr lang="en" sz="1900">
                <a:solidFill>
                  <a:schemeClr val="dk1"/>
                </a:solidFill>
              </a:rPr>
              <a:t>, because the inverse of such a function </a:t>
            </a:r>
            <a:r>
              <a:rPr b="1" lang="en" sz="1900">
                <a:solidFill>
                  <a:schemeClr val="dk1"/>
                </a:solidFill>
              </a:rPr>
              <a:t>does not exist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EXAMPLE:</a:t>
            </a:r>
            <a:r>
              <a:rPr lang="en" sz="1900">
                <a:solidFill>
                  <a:schemeClr val="dk1"/>
                </a:solidFill>
              </a:rPr>
              <a:t> Let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be the function from </a:t>
            </a:r>
            <a:r>
              <a:rPr b="1" i="1" lang="en" sz="1900">
                <a:solidFill>
                  <a:schemeClr val="dk1"/>
                </a:solidFill>
              </a:rPr>
              <a:t>{a, b, c}</a:t>
            </a:r>
            <a:r>
              <a:rPr lang="en" sz="1900">
                <a:solidFill>
                  <a:schemeClr val="dk1"/>
                </a:solidFill>
              </a:rPr>
              <a:t> to </a:t>
            </a:r>
            <a:r>
              <a:rPr b="1" i="1" lang="en" sz="1900">
                <a:solidFill>
                  <a:schemeClr val="dk1"/>
                </a:solidFill>
              </a:rPr>
              <a:t>{1, 2, 3}</a:t>
            </a:r>
            <a:r>
              <a:rPr lang="en" sz="1900">
                <a:solidFill>
                  <a:schemeClr val="dk1"/>
                </a:solidFill>
              </a:rPr>
              <a:t> such that</a:t>
            </a:r>
            <a:r>
              <a:rPr b="1" i="1" lang="en" sz="1900">
                <a:solidFill>
                  <a:schemeClr val="dk1"/>
                </a:solidFill>
              </a:rPr>
              <a:t> f(a)</a:t>
            </a:r>
            <a:r>
              <a:rPr b="1" i="1" lang="en" sz="1900">
                <a:solidFill>
                  <a:schemeClr val="dk1"/>
                </a:solidFill>
              </a:rPr>
              <a:t> = 2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b="1" i="1" lang="en" sz="1900">
                <a:solidFill>
                  <a:schemeClr val="dk1"/>
                </a:solidFill>
              </a:rPr>
              <a:t>f(b) = 3</a:t>
            </a:r>
            <a:r>
              <a:rPr lang="en" sz="1900">
                <a:solidFill>
                  <a:schemeClr val="dk1"/>
                </a:solidFill>
              </a:rPr>
              <a:t>, and</a:t>
            </a:r>
            <a:r>
              <a:rPr b="1" i="1" lang="en" sz="1900">
                <a:solidFill>
                  <a:schemeClr val="dk1"/>
                </a:solidFill>
              </a:rPr>
              <a:t> f(c) = 1</a:t>
            </a:r>
            <a:r>
              <a:rPr lang="en" sz="1900">
                <a:solidFill>
                  <a:schemeClr val="dk1"/>
                </a:solidFill>
              </a:rPr>
              <a:t>. Is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invertible, and if it is, what is its inverse?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SOLUTION:</a:t>
            </a:r>
            <a:r>
              <a:rPr lang="en" sz="1900">
                <a:solidFill>
                  <a:schemeClr val="dk1"/>
                </a:solidFill>
              </a:rPr>
              <a:t> The function </a:t>
            </a:r>
            <a:r>
              <a:rPr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is invertible because it is a one-to-one correspondence. The inverse function </a:t>
            </a:r>
            <a:r>
              <a:rPr i="1" lang="en" sz="1900">
                <a:solidFill>
                  <a:schemeClr val="dk1"/>
                </a:solidFill>
              </a:rPr>
              <a:t>f</a:t>
            </a:r>
            <a:r>
              <a:rPr baseline="30000" i="1" lang="en" sz="2200">
                <a:solidFill>
                  <a:schemeClr val="dk1"/>
                </a:solidFill>
              </a:rPr>
              <a:t> -1</a:t>
            </a:r>
            <a:r>
              <a:rPr lang="en" sz="1900">
                <a:solidFill>
                  <a:schemeClr val="dk1"/>
                </a:solidFill>
              </a:rPr>
              <a:t> r</a:t>
            </a:r>
            <a:r>
              <a:rPr lang="en" sz="1900">
                <a:solidFill>
                  <a:schemeClr val="dk1"/>
                </a:solidFill>
              </a:rPr>
              <a:t>everses the correspondence given by </a:t>
            </a:r>
            <a:r>
              <a:rPr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, so </a:t>
            </a:r>
            <a:r>
              <a:rPr i="1" lang="en" sz="1900">
                <a:solidFill>
                  <a:schemeClr val="dk1"/>
                </a:solidFill>
              </a:rPr>
              <a:t>f</a:t>
            </a:r>
            <a:r>
              <a:rPr baseline="30000" i="1" lang="en" sz="2200">
                <a:solidFill>
                  <a:schemeClr val="dk1"/>
                </a:solidFill>
              </a:rPr>
              <a:t> -1</a:t>
            </a:r>
            <a:r>
              <a:rPr i="1" lang="en" sz="1900">
                <a:solidFill>
                  <a:schemeClr val="dk1"/>
                </a:solidFill>
              </a:rPr>
              <a:t>(1) = c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i="1" lang="en" sz="1900">
                <a:solidFill>
                  <a:schemeClr val="dk1"/>
                </a:solidFill>
              </a:rPr>
              <a:t>f</a:t>
            </a:r>
            <a:r>
              <a:rPr baseline="30000" i="1" lang="en" sz="2200">
                <a:solidFill>
                  <a:schemeClr val="dk1"/>
                </a:solidFill>
              </a:rPr>
              <a:t> -1</a:t>
            </a:r>
            <a:r>
              <a:rPr i="1" lang="en" sz="1900">
                <a:solidFill>
                  <a:schemeClr val="dk1"/>
                </a:solidFill>
              </a:rPr>
              <a:t>(2) = a</a:t>
            </a:r>
            <a:r>
              <a:rPr lang="en" sz="1900">
                <a:solidFill>
                  <a:schemeClr val="dk1"/>
                </a:solidFill>
              </a:rPr>
              <a:t>, and </a:t>
            </a:r>
            <a:r>
              <a:rPr i="1" lang="en" sz="1900">
                <a:solidFill>
                  <a:schemeClr val="dk1"/>
                </a:solidFill>
              </a:rPr>
              <a:t>f</a:t>
            </a:r>
            <a:r>
              <a:rPr baseline="30000" i="1" lang="en" sz="2200">
                <a:solidFill>
                  <a:schemeClr val="dk1"/>
                </a:solidFill>
              </a:rPr>
              <a:t> -1</a:t>
            </a:r>
            <a:r>
              <a:rPr i="1" lang="en" sz="1900">
                <a:solidFill>
                  <a:schemeClr val="dk1"/>
                </a:solidFill>
              </a:rPr>
              <a:t>(3) = b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Examples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EXAMPLE: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Let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be the function from </a:t>
            </a:r>
            <a:r>
              <a:rPr b="1" i="1" lang="en" sz="1900">
                <a:solidFill>
                  <a:schemeClr val="dk1"/>
                </a:solidFill>
              </a:rPr>
              <a:t>R </a:t>
            </a:r>
            <a:r>
              <a:rPr lang="en" sz="1900">
                <a:solidFill>
                  <a:schemeClr val="dk1"/>
                </a:solidFill>
              </a:rPr>
              <a:t>to </a:t>
            </a:r>
            <a:r>
              <a:rPr b="1" i="1" lang="en" sz="1900">
                <a:solidFill>
                  <a:schemeClr val="dk1"/>
                </a:solidFill>
              </a:rPr>
              <a:t>R </a:t>
            </a:r>
            <a:r>
              <a:rPr lang="en" sz="1900">
                <a:solidFill>
                  <a:schemeClr val="dk1"/>
                </a:solidFill>
              </a:rPr>
              <a:t>with </a:t>
            </a:r>
            <a:r>
              <a:rPr b="1" i="1" lang="en" sz="1900">
                <a:solidFill>
                  <a:schemeClr val="dk1"/>
                </a:solidFill>
              </a:rPr>
              <a:t>f(x) = x</a:t>
            </a:r>
            <a:r>
              <a:rPr b="1" baseline="30000" i="1" lang="en" sz="1900">
                <a:solidFill>
                  <a:schemeClr val="dk1"/>
                </a:solidFill>
              </a:rPr>
              <a:t>2</a:t>
            </a:r>
            <a:r>
              <a:rPr lang="en" sz="1900">
                <a:solidFill>
                  <a:schemeClr val="dk1"/>
                </a:solidFill>
              </a:rPr>
              <a:t>. Is f invertible?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SOLUTION: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Because </a:t>
            </a:r>
            <a:r>
              <a:rPr b="1" i="1" lang="en" sz="1900">
                <a:solidFill>
                  <a:schemeClr val="dk1"/>
                </a:solidFill>
              </a:rPr>
              <a:t>f(−2) = f(2) = 4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b="1" i="1" lang="en" sz="1900">
                <a:solidFill>
                  <a:schemeClr val="dk1"/>
                </a:solidFill>
              </a:rPr>
              <a:t>f </a:t>
            </a:r>
            <a:r>
              <a:rPr lang="en" sz="1900">
                <a:solidFill>
                  <a:schemeClr val="dk1"/>
                </a:solidFill>
              </a:rPr>
              <a:t>is not one-to-one. If an inverse function were defined, it would have to assign </a:t>
            </a:r>
            <a:r>
              <a:rPr b="1" i="1" lang="en" sz="1900">
                <a:solidFill>
                  <a:schemeClr val="dk1"/>
                </a:solidFill>
              </a:rPr>
              <a:t>two</a:t>
            </a:r>
            <a:r>
              <a:rPr lang="en" sz="1900">
                <a:solidFill>
                  <a:schemeClr val="dk1"/>
                </a:solidFill>
              </a:rPr>
              <a:t> elements to </a:t>
            </a:r>
            <a:r>
              <a:rPr b="1" i="1" lang="en" sz="1900">
                <a:solidFill>
                  <a:schemeClr val="dk1"/>
                </a:solidFill>
              </a:rPr>
              <a:t>4</a:t>
            </a:r>
            <a:r>
              <a:rPr lang="en" sz="1900">
                <a:solidFill>
                  <a:schemeClr val="dk1"/>
                </a:solidFill>
              </a:rPr>
              <a:t>. Hence,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is not invertible. (Note we can also show that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is not invertible because it is not onto.)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Compositions of Functions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Let </a:t>
            </a:r>
            <a:r>
              <a:rPr b="1" i="1" lang="en" sz="1900">
                <a:solidFill>
                  <a:schemeClr val="dk1"/>
                </a:solidFill>
              </a:rPr>
              <a:t>g</a:t>
            </a:r>
            <a:r>
              <a:rPr lang="en" sz="1900">
                <a:solidFill>
                  <a:schemeClr val="dk1"/>
                </a:solidFill>
              </a:rPr>
              <a:t> be a function from the set </a:t>
            </a:r>
            <a:r>
              <a:rPr b="1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to the set </a:t>
            </a:r>
            <a:r>
              <a:rPr b="1" i="1" lang="en" sz="1900">
                <a:solidFill>
                  <a:schemeClr val="dk1"/>
                </a:solidFill>
              </a:rPr>
              <a:t>B </a:t>
            </a:r>
            <a:r>
              <a:rPr lang="en" sz="1900">
                <a:solidFill>
                  <a:schemeClr val="dk1"/>
                </a:solidFill>
              </a:rPr>
              <a:t>and let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be a function from the set </a:t>
            </a:r>
            <a:r>
              <a:rPr b="1" i="1" lang="en" sz="1900">
                <a:solidFill>
                  <a:schemeClr val="dk1"/>
                </a:solidFill>
              </a:rPr>
              <a:t>B</a:t>
            </a:r>
            <a:r>
              <a:rPr lang="en" sz="1900">
                <a:solidFill>
                  <a:schemeClr val="dk1"/>
                </a:solidFill>
              </a:rPr>
              <a:t> to the set </a:t>
            </a:r>
            <a:r>
              <a:rPr b="1" i="1" lang="en" sz="1900">
                <a:solidFill>
                  <a:schemeClr val="dk1"/>
                </a:solidFill>
              </a:rPr>
              <a:t>C</a:t>
            </a:r>
            <a:r>
              <a:rPr lang="en" sz="1900">
                <a:solidFill>
                  <a:schemeClr val="dk1"/>
                </a:solidFill>
              </a:rPr>
              <a:t>. The composition of the functions</a:t>
            </a:r>
            <a:r>
              <a:rPr b="1" i="1" lang="en" sz="1900">
                <a:solidFill>
                  <a:schemeClr val="dk1"/>
                </a:solidFill>
              </a:rPr>
              <a:t> f</a:t>
            </a:r>
            <a:r>
              <a:rPr lang="en" sz="1900">
                <a:solidFill>
                  <a:schemeClr val="dk1"/>
                </a:solidFill>
              </a:rPr>
              <a:t> and g, denoted for all </a:t>
            </a:r>
            <a:r>
              <a:rPr b="1" i="1" lang="en" sz="1900">
                <a:solidFill>
                  <a:schemeClr val="dk1"/>
                </a:solidFill>
              </a:rPr>
              <a:t>a ∈ A</a:t>
            </a:r>
            <a:r>
              <a:rPr lang="en" sz="1900">
                <a:solidFill>
                  <a:schemeClr val="dk1"/>
                </a:solidFill>
              </a:rPr>
              <a:t> by </a:t>
            </a:r>
            <a:r>
              <a:rPr b="1" i="1" lang="en" sz="1900">
                <a:solidFill>
                  <a:schemeClr val="dk1"/>
                </a:solidFill>
              </a:rPr>
              <a:t>f◦g</a:t>
            </a:r>
            <a:r>
              <a:rPr lang="en" sz="1900">
                <a:solidFill>
                  <a:schemeClr val="dk1"/>
                </a:solidFill>
              </a:rPr>
              <a:t>, is the function from </a:t>
            </a:r>
            <a:r>
              <a:rPr b="1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to </a:t>
            </a:r>
            <a:r>
              <a:rPr b="1" i="1" lang="en" sz="1900">
                <a:solidFill>
                  <a:schemeClr val="dk1"/>
                </a:solidFill>
              </a:rPr>
              <a:t>C</a:t>
            </a:r>
            <a:r>
              <a:rPr lang="en" sz="1900">
                <a:solidFill>
                  <a:schemeClr val="dk1"/>
                </a:solidFill>
              </a:rPr>
              <a:t> defined by </a:t>
            </a:r>
            <a:r>
              <a:rPr b="1" i="1" lang="en" sz="1900">
                <a:solidFill>
                  <a:schemeClr val="dk1"/>
                </a:solidFill>
              </a:rPr>
              <a:t>(f◦g)(a) = f(g(a))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6325" y="2260600"/>
            <a:ext cx="6031350" cy="26397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8"/>
          <p:cNvSpPr txBox="1"/>
          <p:nvPr/>
        </p:nvSpPr>
        <p:spPr>
          <a:xfrm>
            <a:off x="1351600" y="4703625"/>
            <a:ext cx="6227700" cy="3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000000"/>
                </a:solidFill>
              </a:rPr>
              <a:t>Fig : </a:t>
            </a:r>
            <a:r>
              <a:rPr b="1" lang="en" sz="1600"/>
              <a:t>The composition of the functions </a:t>
            </a:r>
            <a:r>
              <a:rPr b="1" i="1" lang="en" sz="1600"/>
              <a:t>f</a:t>
            </a:r>
            <a:r>
              <a:rPr b="1" lang="en" sz="1600"/>
              <a:t> and </a:t>
            </a:r>
            <a:r>
              <a:rPr b="1" i="1" lang="en" sz="1600"/>
              <a:t>g</a:t>
            </a:r>
            <a:endParaRPr b="1" i="1" sz="16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Examples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EXAMPLE: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Let </a:t>
            </a:r>
            <a:r>
              <a:rPr b="1" i="1" lang="en" sz="1900">
                <a:solidFill>
                  <a:schemeClr val="dk1"/>
                </a:solidFill>
              </a:rPr>
              <a:t>g</a:t>
            </a:r>
            <a:r>
              <a:rPr lang="en" sz="1900">
                <a:solidFill>
                  <a:schemeClr val="dk1"/>
                </a:solidFill>
              </a:rPr>
              <a:t> be the function from the set </a:t>
            </a:r>
            <a:r>
              <a:rPr b="1" i="1" lang="en" sz="1900">
                <a:solidFill>
                  <a:schemeClr val="dk1"/>
                </a:solidFill>
              </a:rPr>
              <a:t>{a, b, c}</a:t>
            </a:r>
            <a:r>
              <a:rPr lang="en" sz="1900">
                <a:solidFill>
                  <a:schemeClr val="dk1"/>
                </a:solidFill>
              </a:rPr>
              <a:t> to </a:t>
            </a:r>
            <a:r>
              <a:rPr b="1" i="1" lang="en" sz="1900">
                <a:solidFill>
                  <a:schemeClr val="dk1"/>
                </a:solidFill>
              </a:rPr>
              <a:t>itself</a:t>
            </a:r>
            <a:r>
              <a:rPr lang="en" sz="1900">
                <a:solidFill>
                  <a:schemeClr val="dk1"/>
                </a:solidFill>
              </a:rPr>
              <a:t> such that </a:t>
            </a:r>
            <a:r>
              <a:rPr b="1" i="1" lang="en" sz="1900">
                <a:solidFill>
                  <a:schemeClr val="dk1"/>
                </a:solidFill>
              </a:rPr>
              <a:t>g(a) = b, g(b) = c, and g(c) = a.</a:t>
            </a:r>
            <a:r>
              <a:rPr lang="en" sz="1900">
                <a:solidFill>
                  <a:schemeClr val="dk1"/>
                </a:solidFill>
              </a:rPr>
              <a:t> Let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be the function from the set </a:t>
            </a:r>
            <a:r>
              <a:rPr b="1" i="1" lang="en" sz="1900">
                <a:solidFill>
                  <a:schemeClr val="dk1"/>
                </a:solidFill>
              </a:rPr>
              <a:t>{a, b, c}</a:t>
            </a:r>
            <a:r>
              <a:rPr lang="en" sz="1900">
                <a:solidFill>
                  <a:schemeClr val="dk1"/>
                </a:solidFill>
              </a:rPr>
              <a:t> to the set </a:t>
            </a:r>
            <a:r>
              <a:rPr b="1" i="1" lang="en" sz="1900">
                <a:solidFill>
                  <a:schemeClr val="dk1"/>
                </a:solidFill>
              </a:rPr>
              <a:t>{1, 2, 3} </a:t>
            </a:r>
            <a:r>
              <a:rPr lang="en" sz="1900">
                <a:solidFill>
                  <a:schemeClr val="dk1"/>
                </a:solidFill>
              </a:rPr>
              <a:t>such that </a:t>
            </a:r>
            <a:r>
              <a:rPr b="1" i="1" lang="en" sz="1900">
                <a:solidFill>
                  <a:schemeClr val="dk1"/>
                </a:solidFill>
              </a:rPr>
              <a:t>f(a) = 3, f(b) = 2, and f(c) = 1</a:t>
            </a:r>
            <a:r>
              <a:rPr lang="en" sz="1900">
                <a:solidFill>
                  <a:schemeClr val="dk1"/>
                </a:solidFill>
              </a:rPr>
              <a:t>. What is the composition of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g</a:t>
            </a:r>
            <a:r>
              <a:rPr lang="en" sz="1900">
                <a:solidFill>
                  <a:schemeClr val="dk1"/>
                </a:solidFill>
              </a:rPr>
              <a:t>, and what is the composition of </a:t>
            </a:r>
            <a:r>
              <a:rPr b="1" i="1" lang="en" sz="1900">
                <a:solidFill>
                  <a:schemeClr val="dk1"/>
                </a:solidFill>
              </a:rPr>
              <a:t>g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?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SOLUTION: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The composition </a:t>
            </a:r>
            <a:r>
              <a:rPr i="1" lang="en" sz="1900">
                <a:solidFill>
                  <a:schemeClr val="dk1"/>
                </a:solidFill>
              </a:rPr>
              <a:t>f◦g</a:t>
            </a:r>
            <a:r>
              <a:rPr lang="en" sz="1900">
                <a:solidFill>
                  <a:schemeClr val="dk1"/>
                </a:solidFill>
              </a:rPr>
              <a:t> is defined by </a:t>
            </a:r>
            <a:r>
              <a:rPr i="1" lang="en" sz="1900">
                <a:solidFill>
                  <a:schemeClr val="dk1"/>
                </a:solidFill>
              </a:rPr>
              <a:t>(f◦g)(a) = f(g(a)) = f(b) = 2</a:t>
            </a:r>
            <a:r>
              <a:rPr lang="en" sz="1900">
                <a:solidFill>
                  <a:schemeClr val="dk1"/>
                </a:solidFill>
              </a:rPr>
              <a:t>, </a:t>
            </a:r>
            <a:r>
              <a:rPr i="1" lang="en" sz="1900">
                <a:solidFill>
                  <a:schemeClr val="dk1"/>
                </a:solidFill>
              </a:rPr>
              <a:t>(f◦g) (b) = f(g(b)) = f(c) = 1</a:t>
            </a:r>
            <a:r>
              <a:rPr lang="en" sz="1900">
                <a:solidFill>
                  <a:schemeClr val="dk1"/>
                </a:solidFill>
              </a:rPr>
              <a:t>, and </a:t>
            </a:r>
            <a:r>
              <a:rPr i="1" lang="en" sz="1900">
                <a:solidFill>
                  <a:schemeClr val="dk1"/>
                </a:solidFill>
              </a:rPr>
              <a:t>(f◦g)(c) = f(g(c)) = f(a) = 3</a:t>
            </a:r>
            <a:r>
              <a:rPr lang="en" sz="1900">
                <a:solidFill>
                  <a:schemeClr val="dk1"/>
                </a:solidFill>
              </a:rPr>
              <a:t>.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i="1" lang="en" sz="1900">
                <a:solidFill>
                  <a:schemeClr val="dk1"/>
                </a:solidFill>
              </a:rPr>
              <a:t>Note that g◦f is not defined, because the range of f is not a subset of the domain of g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Examples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173000" y="11062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EXAMPLE: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Let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g</a:t>
            </a:r>
            <a:r>
              <a:rPr lang="en" sz="1900">
                <a:solidFill>
                  <a:schemeClr val="dk1"/>
                </a:solidFill>
              </a:rPr>
              <a:t> be the functions defined by </a:t>
            </a:r>
            <a:r>
              <a:rPr b="1" i="1" lang="en" sz="1900">
                <a:solidFill>
                  <a:schemeClr val="dk1"/>
                </a:solidFill>
              </a:rPr>
              <a:t>f : R → R</a:t>
            </a:r>
            <a:r>
              <a:rPr b="1" baseline="30000" i="1" lang="en" sz="2300">
                <a:solidFill>
                  <a:schemeClr val="dk1"/>
                </a:solidFill>
              </a:rPr>
              <a:t>+</a:t>
            </a:r>
            <a:r>
              <a:rPr b="1" i="1" lang="en" sz="1900">
                <a:solidFill>
                  <a:schemeClr val="dk1"/>
                </a:solidFill>
              </a:rPr>
              <a:t>∪ {0}</a:t>
            </a:r>
            <a:r>
              <a:rPr lang="en" sz="1900">
                <a:solidFill>
                  <a:schemeClr val="dk1"/>
                </a:solidFill>
              </a:rPr>
              <a:t> with </a:t>
            </a:r>
            <a:r>
              <a:rPr b="1" i="1" lang="en" sz="1900">
                <a:solidFill>
                  <a:schemeClr val="dk1"/>
                </a:solidFill>
              </a:rPr>
              <a:t>f(x) = x</a:t>
            </a:r>
            <a:r>
              <a:rPr b="1" baseline="30000" i="1" lang="en" sz="1900">
                <a:solidFill>
                  <a:schemeClr val="dk1"/>
                </a:solidFill>
              </a:rPr>
              <a:t>2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g : R</a:t>
            </a:r>
            <a:r>
              <a:rPr b="1" baseline="30000" i="1" lang="en" sz="2300">
                <a:solidFill>
                  <a:schemeClr val="dk1"/>
                </a:solidFill>
              </a:rPr>
              <a:t>+</a:t>
            </a:r>
            <a:r>
              <a:rPr b="1" i="1" lang="en" sz="1900">
                <a:solidFill>
                  <a:schemeClr val="dk1"/>
                </a:solidFill>
              </a:rPr>
              <a:t>∪ {0} → R</a:t>
            </a:r>
            <a:r>
              <a:rPr lang="en" sz="1900">
                <a:solidFill>
                  <a:schemeClr val="dk1"/>
                </a:solidFill>
              </a:rPr>
              <a:t> with </a:t>
            </a:r>
            <a:r>
              <a:rPr b="1" i="1" lang="en" sz="1900">
                <a:solidFill>
                  <a:schemeClr val="dk1"/>
                </a:solidFill>
              </a:rPr>
              <a:t>g(x) = √x</a:t>
            </a:r>
            <a:r>
              <a:rPr lang="en" sz="1900">
                <a:solidFill>
                  <a:schemeClr val="dk1"/>
                </a:solidFill>
              </a:rPr>
              <a:t> (where </a:t>
            </a:r>
            <a:r>
              <a:rPr b="1" i="1" lang="en" sz="1900">
                <a:solidFill>
                  <a:schemeClr val="dk1"/>
                </a:solidFill>
              </a:rPr>
              <a:t>√x</a:t>
            </a:r>
            <a:r>
              <a:rPr lang="en" sz="1900">
                <a:solidFill>
                  <a:schemeClr val="dk1"/>
                </a:solidFill>
              </a:rPr>
              <a:t> is the nonnegative square root of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). What is the function </a:t>
            </a:r>
            <a:r>
              <a:rPr b="1" i="1" lang="en" sz="1900">
                <a:solidFill>
                  <a:schemeClr val="dk1"/>
                </a:solidFill>
              </a:rPr>
              <a:t>(f◦g)(x)</a:t>
            </a:r>
            <a:r>
              <a:rPr lang="en" sz="1900">
                <a:solidFill>
                  <a:schemeClr val="dk1"/>
                </a:solidFill>
              </a:rPr>
              <a:t>?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SOLUTION:</a:t>
            </a:r>
            <a:r>
              <a:rPr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The domain of </a:t>
            </a:r>
            <a:r>
              <a:rPr b="1" i="1" lang="en" sz="1900">
                <a:solidFill>
                  <a:schemeClr val="dk1"/>
                </a:solidFill>
              </a:rPr>
              <a:t>(f◦g)(x) = f(g(x))</a:t>
            </a:r>
            <a:r>
              <a:rPr lang="en" sz="1900">
                <a:solidFill>
                  <a:schemeClr val="dk1"/>
                </a:solidFill>
              </a:rPr>
              <a:t> is the domain of </a:t>
            </a:r>
            <a:r>
              <a:rPr b="1" i="1" lang="en" sz="1900">
                <a:solidFill>
                  <a:schemeClr val="dk1"/>
                </a:solidFill>
              </a:rPr>
              <a:t>g</a:t>
            </a:r>
            <a:r>
              <a:rPr lang="en" sz="1900">
                <a:solidFill>
                  <a:schemeClr val="dk1"/>
                </a:solidFill>
              </a:rPr>
              <a:t>, which is </a:t>
            </a:r>
            <a:r>
              <a:rPr b="1" i="1" lang="en" sz="1900">
                <a:solidFill>
                  <a:schemeClr val="dk1"/>
                </a:solidFill>
              </a:rPr>
              <a:t>R</a:t>
            </a:r>
            <a:r>
              <a:rPr b="1" baseline="30000" i="1" lang="en" sz="2300">
                <a:solidFill>
                  <a:schemeClr val="dk1"/>
                </a:solidFill>
              </a:rPr>
              <a:t>+</a:t>
            </a:r>
            <a:r>
              <a:rPr b="1" i="1" lang="en" sz="1900">
                <a:solidFill>
                  <a:schemeClr val="dk1"/>
                </a:solidFill>
              </a:rPr>
              <a:t>∪ {0}</a:t>
            </a:r>
            <a:r>
              <a:rPr lang="en" sz="1900">
                <a:solidFill>
                  <a:schemeClr val="dk1"/>
                </a:solidFill>
              </a:rPr>
              <a:t>, the set of nonnegative real numbers. If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 is a </a:t>
            </a:r>
            <a:r>
              <a:rPr b="1" i="1" lang="en" sz="1900">
                <a:solidFill>
                  <a:schemeClr val="dk1"/>
                </a:solidFill>
              </a:rPr>
              <a:t>nonnegative real number</a:t>
            </a:r>
            <a:r>
              <a:rPr lang="en" sz="1900">
                <a:solidFill>
                  <a:schemeClr val="dk1"/>
                </a:solidFill>
              </a:rPr>
              <a:t>, we have </a:t>
            </a:r>
            <a:r>
              <a:rPr b="1" i="1" lang="en" sz="1900">
                <a:solidFill>
                  <a:schemeClr val="dk1"/>
                </a:solidFill>
              </a:rPr>
              <a:t>(f◦g)(x) = f(g(x)) = f(√x) = (√x)</a:t>
            </a:r>
            <a:r>
              <a:rPr b="1" baseline="30000" i="1" lang="en" sz="1900">
                <a:solidFill>
                  <a:schemeClr val="dk1"/>
                </a:solidFill>
              </a:rPr>
              <a:t>2 </a:t>
            </a:r>
            <a:r>
              <a:rPr b="1" i="1" lang="en" sz="1900">
                <a:solidFill>
                  <a:schemeClr val="dk1"/>
                </a:solidFill>
              </a:rPr>
              <a:t>= x</a:t>
            </a:r>
            <a:r>
              <a:rPr lang="en" sz="1900">
                <a:solidFill>
                  <a:schemeClr val="dk1"/>
                </a:solidFill>
              </a:rPr>
              <a:t>. The range of </a:t>
            </a:r>
            <a:r>
              <a:rPr b="1" i="1" lang="en" sz="1900">
                <a:solidFill>
                  <a:schemeClr val="dk1"/>
                </a:solidFill>
              </a:rPr>
              <a:t>f◦g</a:t>
            </a:r>
            <a:r>
              <a:rPr lang="en" sz="1900">
                <a:solidFill>
                  <a:schemeClr val="dk1"/>
                </a:solidFill>
              </a:rPr>
              <a:t> is the image of the range</a:t>
            </a:r>
            <a:r>
              <a:rPr b="1" i="1"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of g with respect to the function</a:t>
            </a:r>
            <a:r>
              <a:rPr b="1" i="1" lang="en" sz="1900">
                <a:solidFill>
                  <a:schemeClr val="dk1"/>
                </a:solidFill>
              </a:rPr>
              <a:t> f</a:t>
            </a:r>
            <a:r>
              <a:rPr lang="en" sz="1900">
                <a:solidFill>
                  <a:schemeClr val="dk1"/>
                </a:solidFill>
              </a:rPr>
              <a:t>. This is the set </a:t>
            </a:r>
            <a:r>
              <a:rPr b="1" i="1" lang="en" sz="1900">
                <a:solidFill>
                  <a:schemeClr val="dk1"/>
                </a:solidFill>
              </a:rPr>
              <a:t>R</a:t>
            </a:r>
            <a:r>
              <a:rPr b="1" baseline="30000" i="1" lang="en" sz="2300">
                <a:solidFill>
                  <a:schemeClr val="dk1"/>
                </a:solidFill>
              </a:rPr>
              <a:t>+</a:t>
            </a:r>
            <a:r>
              <a:rPr b="1" i="1" lang="en" sz="1900">
                <a:solidFill>
                  <a:schemeClr val="dk1"/>
                </a:solidFill>
              </a:rPr>
              <a:t>∪ {0}</a:t>
            </a:r>
            <a:r>
              <a:rPr lang="en" sz="1900">
                <a:solidFill>
                  <a:schemeClr val="dk1"/>
                </a:solidFill>
              </a:rPr>
              <a:t>, the set of nonnegative real numbers. Summarizing,</a:t>
            </a:r>
            <a:r>
              <a:rPr b="1" i="1" lang="en" sz="1900">
                <a:solidFill>
                  <a:schemeClr val="dk1"/>
                </a:solidFill>
              </a:rPr>
              <a:t> f : R</a:t>
            </a:r>
            <a:r>
              <a:rPr b="1" baseline="30000" i="1" lang="en" sz="2300">
                <a:solidFill>
                  <a:schemeClr val="dk1"/>
                </a:solidFill>
              </a:rPr>
              <a:t>+</a:t>
            </a:r>
            <a:r>
              <a:rPr b="1" i="1" lang="en" sz="1900">
                <a:solidFill>
                  <a:schemeClr val="dk1"/>
                </a:solidFill>
              </a:rPr>
              <a:t>∪ {0} → R</a:t>
            </a:r>
            <a:r>
              <a:rPr b="1" baseline="30000" i="1" lang="en" sz="2300">
                <a:solidFill>
                  <a:schemeClr val="dk1"/>
                </a:solidFill>
              </a:rPr>
              <a:t>+</a:t>
            </a:r>
            <a:r>
              <a:rPr b="1" i="1" lang="en" sz="1900">
                <a:solidFill>
                  <a:schemeClr val="dk1"/>
                </a:solidFill>
              </a:rPr>
              <a:t>∪ {0}</a:t>
            </a:r>
            <a:r>
              <a:rPr lang="en" sz="1900">
                <a:solidFill>
                  <a:schemeClr val="dk1"/>
                </a:solidFill>
              </a:rPr>
              <a:t> and</a:t>
            </a:r>
            <a:r>
              <a:rPr b="1" i="1" lang="en" sz="1900">
                <a:solidFill>
                  <a:schemeClr val="dk1"/>
                </a:solidFill>
              </a:rPr>
              <a:t> f(g(x)) = x</a:t>
            </a:r>
            <a:r>
              <a:rPr lang="en" sz="1900">
                <a:solidFill>
                  <a:schemeClr val="dk1"/>
                </a:solidFill>
              </a:rPr>
              <a:t> for all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Explanation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When the composition of a function and its inverse is formed, in either order, an identity function is obtained. To see this, suppose that </a:t>
            </a:r>
            <a:r>
              <a:rPr b="1" i="1" lang="en" sz="1900">
                <a:solidFill>
                  <a:schemeClr val="dk1"/>
                </a:solidFill>
              </a:rPr>
              <a:t>f</a:t>
            </a:r>
            <a:r>
              <a:rPr lang="en" sz="1900">
                <a:solidFill>
                  <a:schemeClr val="dk1"/>
                </a:solidFill>
              </a:rPr>
              <a:t> is a </a:t>
            </a:r>
            <a:r>
              <a:rPr b="1" i="1" lang="en" sz="1900">
                <a:solidFill>
                  <a:schemeClr val="dk1"/>
                </a:solidFill>
              </a:rPr>
              <a:t>one-to-one correspondence</a:t>
            </a:r>
            <a:r>
              <a:rPr lang="en" sz="1900">
                <a:solidFill>
                  <a:schemeClr val="dk1"/>
                </a:solidFill>
              </a:rPr>
              <a:t> from the set </a:t>
            </a:r>
            <a:r>
              <a:rPr b="1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to the set </a:t>
            </a:r>
            <a:r>
              <a:rPr b="1" i="1" lang="en" sz="1900">
                <a:solidFill>
                  <a:schemeClr val="dk1"/>
                </a:solidFill>
              </a:rPr>
              <a:t>B</a:t>
            </a:r>
            <a:r>
              <a:rPr lang="en" sz="1900">
                <a:solidFill>
                  <a:schemeClr val="dk1"/>
                </a:solidFill>
              </a:rPr>
              <a:t>. Then the inverse function </a:t>
            </a:r>
            <a:r>
              <a:rPr b="1" i="1" lang="en" sz="1900">
                <a:solidFill>
                  <a:schemeClr val="dk1"/>
                </a:solidFill>
              </a:rPr>
              <a:t>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 </a:t>
            </a:r>
            <a:r>
              <a:rPr lang="en" sz="1900">
                <a:solidFill>
                  <a:schemeClr val="dk1"/>
                </a:solidFill>
              </a:rPr>
              <a:t>exists and is a </a:t>
            </a:r>
            <a:r>
              <a:rPr b="1" i="1" lang="en" sz="1900">
                <a:solidFill>
                  <a:schemeClr val="dk1"/>
                </a:solidFill>
              </a:rPr>
              <a:t>one-to-one correspondenc</a:t>
            </a:r>
            <a:r>
              <a:rPr lang="en" sz="1900">
                <a:solidFill>
                  <a:schemeClr val="dk1"/>
                </a:solidFill>
              </a:rPr>
              <a:t>e from</a:t>
            </a:r>
            <a:r>
              <a:rPr b="1" i="1" lang="en" sz="1900">
                <a:solidFill>
                  <a:schemeClr val="dk1"/>
                </a:solidFill>
              </a:rPr>
              <a:t> B</a:t>
            </a:r>
            <a:r>
              <a:rPr lang="en" sz="1900">
                <a:solidFill>
                  <a:schemeClr val="dk1"/>
                </a:solidFill>
              </a:rPr>
              <a:t> to</a:t>
            </a:r>
            <a:r>
              <a:rPr b="1" i="1" lang="en" sz="1900">
                <a:solidFill>
                  <a:schemeClr val="dk1"/>
                </a:solidFill>
              </a:rPr>
              <a:t> A</a:t>
            </a:r>
            <a:r>
              <a:rPr lang="en" sz="1900">
                <a:solidFill>
                  <a:schemeClr val="dk1"/>
                </a:solidFill>
              </a:rPr>
              <a:t>. The inverse function reverses the correspondence of the original function, so </a:t>
            </a:r>
            <a:r>
              <a:rPr b="1" i="1" lang="en" sz="1900">
                <a:solidFill>
                  <a:schemeClr val="dk1"/>
                </a:solidFill>
              </a:rPr>
              <a:t>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(b) = a</a:t>
            </a:r>
            <a:r>
              <a:rPr lang="en" sz="1900">
                <a:solidFill>
                  <a:schemeClr val="dk1"/>
                </a:solidFill>
              </a:rPr>
              <a:t> when </a:t>
            </a:r>
            <a:r>
              <a:rPr b="1" i="1" lang="en" sz="1900">
                <a:solidFill>
                  <a:schemeClr val="dk1"/>
                </a:solidFill>
              </a:rPr>
              <a:t>f(a) = b</a:t>
            </a:r>
            <a:r>
              <a:rPr lang="en" sz="1900">
                <a:solidFill>
                  <a:schemeClr val="dk1"/>
                </a:solidFill>
              </a:rPr>
              <a:t>, and </a:t>
            </a:r>
            <a:r>
              <a:rPr b="1" i="1" lang="en" sz="1900">
                <a:solidFill>
                  <a:schemeClr val="dk1"/>
                </a:solidFill>
              </a:rPr>
              <a:t>f(a) = b</a:t>
            </a:r>
            <a:r>
              <a:rPr lang="en" sz="1900">
                <a:solidFill>
                  <a:schemeClr val="dk1"/>
                </a:solidFill>
              </a:rPr>
              <a:t> when</a:t>
            </a:r>
            <a:r>
              <a:rPr b="1" i="1" lang="en" sz="1900">
                <a:solidFill>
                  <a:schemeClr val="dk1"/>
                </a:solidFill>
              </a:rPr>
              <a:t> 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(b) = a</a:t>
            </a:r>
            <a:r>
              <a:rPr lang="en" sz="1900">
                <a:solidFill>
                  <a:schemeClr val="dk1"/>
                </a:solidFill>
              </a:rPr>
              <a:t>. Hence, </a:t>
            </a:r>
            <a:r>
              <a:rPr b="1" i="1" lang="en" sz="1900">
                <a:solidFill>
                  <a:schemeClr val="dk1"/>
                </a:solidFill>
              </a:rPr>
              <a:t>(f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◦f)(a) = 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(f(a)) = 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 (b) = a</a:t>
            </a:r>
            <a:r>
              <a:rPr lang="en" sz="1900">
                <a:solidFill>
                  <a:schemeClr val="dk1"/>
                </a:solidFill>
              </a:rPr>
              <a:t>, and </a:t>
            </a:r>
            <a:r>
              <a:rPr b="1" i="1" lang="en" sz="1900">
                <a:solidFill>
                  <a:schemeClr val="dk1"/>
                </a:solidFill>
              </a:rPr>
              <a:t>(f◦f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)(b) = f( f</a:t>
            </a:r>
            <a:r>
              <a:rPr b="1" baseline="30000" i="1" lang="en" sz="1900">
                <a:solidFill>
                  <a:schemeClr val="dk1"/>
                </a:solidFill>
              </a:rPr>
              <a:t> −1</a:t>
            </a:r>
            <a:r>
              <a:rPr b="1" i="1" lang="en" sz="1900">
                <a:solidFill>
                  <a:schemeClr val="dk1"/>
                </a:solidFill>
              </a:rPr>
              <a:t>(b)) = f(a) = b</a:t>
            </a:r>
            <a:r>
              <a:rPr lang="en" sz="1900">
                <a:solidFill>
                  <a:schemeClr val="dk1"/>
                </a:solidFill>
              </a:rPr>
              <a:t>. Consequently </a:t>
            </a:r>
            <a:r>
              <a:rPr b="1" i="1" lang="en" sz="1900">
                <a:solidFill>
                  <a:schemeClr val="dk1"/>
                </a:solidFill>
              </a:rPr>
              <a:t>f 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◦f = I</a:t>
            </a:r>
            <a:r>
              <a:rPr b="1" baseline="-25000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f ◦f </a:t>
            </a:r>
            <a:r>
              <a:rPr b="1" baseline="30000" i="1" lang="en" sz="1900">
                <a:solidFill>
                  <a:schemeClr val="dk1"/>
                </a:solidFill>
              </a:rPr>
              <a:t>−1 </a:t>
            </a:r>
            <a:r>
              <a:rPr b="1" i="1" lang="en" sz="1900">
                <a:solidFill>
                  <a:schemeClr val="dk1"/>
                </a:solidFill>
              </a:rPr>
              <a:t>= </a:t>
            </a:r>
            <a:r>
              <a:rPr b="1" i="1" lang="en" sz="1900">
                <a:solidFill>
                  <a:schemeClr val="dk1"/>
                </a:solidFill>
              </a:rPr>
              <a:t>I</a:t>
            </a:r>
            <a:r>
              <a:rPr b="1" baseline="-25000" i="1" lang="en" sz="1900">
                <a:solidFill>
                  <a:schemeClr val="dk1"/>
                </a:solidFill>
              </a:rPr>
              <a:t>B</a:t>
            </a:r>
            <a:r>
              <a:rPr b="1" i="1" lang="en" sz="1900">
                <a:solidFill>
                  <a:schemeClr val="dk1"/>
                </a:solidFill>
              </a:rPr>
              <a:t>,</a:t>
            </a:r>
            <a:r>
              <a:rPr lang="en" sz="1900">
                <a:solidFill>
                  <a:schemeClr val="dk1"/>
                </a:solidFill>
              </a:rPr>
              <a:t> where </a:t>
            </a:r>
            <a:r>
              <a:rPr b="1" i="1" lang="en" sz="1900">
                <a:solidFill>
                  <a:schemeClr val="dk1"/>
                </a:solidFill>
              </a:rPr>
              <a:t>I</a:t>
            </a:r>
            <a:r>
              <a:rPr b="1" baseline="-25000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I</a:t>
            </a:r>
            <a:r>
              <a:rPr b="1" baseline="-25000" i="1" lang="en" sz="1900">
                <a:solidFill>
                  <a:schemeClr val="dk1"/>
                </a:solidFill>
              </a:rPr>
              <a:t>B</a:t>
            </a:r>
            <a:r>
              <a:rPr lang="en" sz="1900">
                <a:solidFill>
                  <a:schemeClr val="dk1"/>
                </a:solidFill>
              </a:rPr>
              <a:t> are the identity functions on the sets </a:t>
            </a:r>
            <a:r>
              <a:rPr b="1" i="1" lang="en" sz="1900">
                <a:solidFill>
                  <a:schemeClr val="dk1"/>
                </a:solidFill>
              </a:rPr>
              <a:t>A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B</a:t>
            </a:r>
            <a:r>
              <a:rPr lang="en" sz="1900">
                <a:solidFill>
                  <a:schemeClr val="dk1"/>
                </a:solidFill>
              </a:rPr>
              <a:t>, respectively. That is, </a:t>
            </a:r>
            <a:r>
              <a:rPr b="1" i="1" lang="en" sz="1900">
                <a:solidFill>
                  <a:schemeClr val="dk1"/>
                </a:solidFill>
              </a:rPr>
              <a:t>(f</a:t>
            </a:r>
            <a:r>
              <a:rPr b="1" baseline="30000" i="1" lang="en" sz="1900">
                <a:solidFill>
                  <a:schemeClr val="dk1"/>
                </a:solidFill>
              </a:rPr>
              <a:t> −1</a:t>
            </a:r>
            <a:r>
              <a:rPr b="1" i="1" lang="en" sz="1900">
                <a:solidFill>
                  <a:schemeClr val="dk1"/>
                </a:solidFill>
              </a:rPr>
              <a:t>)</a:t>
            </a:r>
            <a:r>
              <a:rPr b="1" baseline="30000" i="1" lang="en" sz="1900">
                <a:solidFill>
                  <a:schemeClr val="dk1"/>
                </a:solidFill>
              </a:rPr>
              <a:t>−1</a:t>
            </a:r>
            <a:r>
              <a:rPr b="1" i="1" lang="en" sz="1900">
                <a:solidFill>
                  <a:schemeClr val="dk1"/>
                </a:solidFill>
              </a:rPr>
              <a:t> = f</a:t>
            </a:r>
            <a:r>
              <a:rPr lang="en" sz="1900">
                <a:solidFill>
                  <a:schemeClr val="dk1"/>
                </a:solidFill>
              </a:rPr>
              <a:t> 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Some Important Functions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3" name="Google Shape;113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The </a:t>
            </a:r>
            <a:r>
              <a:rPr b="1" i="1" lang="en" sz="1900">
                <a:solidFill>
                  <a:schemeClr val="dk1"/>
                </a:solidFill>
              </a:rPr>
              <a:t>floor function</a:t>
            </a:r>
            <a:r>
              <a:rPr lang="en" sz="1900">
                <a:solidFill>
                  <a:schemeClr val="dk1"/>
                </a:solidFill>
              </a:rPr>
              <a:t> assigns to the real number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 the </a:t>
            </a:r>
            <a:r>
              <a:rPr b="1" i="1" lang="en" sz="1900">
                <a:solidFill>
                  <a:schemeClr val="dk1"/>
                </a:solidFill>
              </a:rPr>
              <a:t>largest</a:t>
            </a:r>
            <a:r>
              <a:rPr lang="en" sz="1900">
                <a:solidFill>
                  <a:schemeClr val="dk1"/>
                </a:solidFill>
              </a:rPr>
              <a:t> integer that is </a:t>
            </a:r>
            <a:r>
              <a:rPr b="1" i="1" lang="en" sz="1900">
                <a:solidFill>
                  <a:schemeClr val="dk1"/>
                </a:solidFill>
              </a:rPr>
              <a:t>less than or equal to x</a:t>
            </a:r>
            <a:r>
              <a:rPr lang="en" sz="1900">
                <a:solidFill>
                  <a:schemeClr val="dk1"/>
                </a:solidFill>
              </a:rPr>
              <a:t>. The value of the floor function at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 is denoted by </a:t>
            </a:r>
            <a:r>
              <a:rPr b="1" i="1" lang="en" sz="1900">
                <a:solidFill>
                  <a:schemeClr val="dk1"/>
                </a:solidFill>
              </a:rPr>
              <a:t>⌊x⌋</a:t>
            </a:r>
            <a:r>
              <a:rPr lang="en" sz="1900">
                <a:solidFill>
                  <a:schemeClr val="dk1"/>
                </a:solidFill>
              </a:rPr>
              <a:t>.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The </a:t>
            </a:r>
            <a:r>
              <a:rPr b="1" i="1" lang="en" sz="1900">
                <a:solidFill>
                  <a:schemeClr val="dk1"/>
                </a:solidFill>
              </a:rPr>
              <a:t>ceiling function</a:t>
            </a:r>
            <a:r>
              <a:rPr lang="en" sz="1900">
                <a:solidFill>
                  <a:schemeClr val="dk1"/>
                </a:solidFill>
              </a:rPr>
              <a:t> assigns to the real number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 the </a:t>
            </a:r>
            <a:r>
              <a:rPr b="1" i="1" lang="en" sz="1900">
                <a:solidFill>
                  <a:schemeClr val="dk1"/>
                </a:solidFill>
              </a:rPr>
              <a:t>smallest</a:t>
            </a:r>
            <a:r>
              <a:rPr lang="en" sz="1900">
                <a:solidFill>
                  <a:schemeClr val="dk1"/>
                </a:solidFill>
              </a:rPr>
              <a:t> integer that is </a:t>
            </a:r>
            <a:r>
              <a:rPr b="1" i="1" lang="en" sz="1900">
                <a:solidFill>
                  <a:schemeClr val="dk1"/>
                </a:solidFill>
              </a:rPr>
              <a:t>greater than or equal to x</a:t>
            </a:r>
            <a:r>
              <a:rPr lang="en" sz="1900">
                <a:solidFill>
                  <a:schemeClr val="dk1"/>
                </a:solidFill>
              </a:rPr>
              <a:t>. The value of the ceiling function at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 is denoted by </a:t>
            </a:r>
            <a:r>
              <a:rPr b="1" i="1" lang="en" sz="1900">
                <a:solidFill>
                  <a:schemeClr val="dk1"/>
                </a:solidFill>
              </a:rPr>
              <a:t>⌈x⌉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088" y="79375"/>
            <a:ext cx="4785825" cy="4984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Examples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EXAMPLE:</a:t>
            </a:r>
            <a:r>
              <a:rPr lang="en" sz="1900">
                <a:solidFill>
                  <a:schemeClr val="dk1"/>
                </a:solidFill>
              </a:rPr>
              <a:t> Prove that if </a:t>
            </a:r>
            <a:r>
              <a:rPr b="1" i="1" lang="en" sz="1900">
                <a:solidFill>
                  <a:schemeClr val="dk1"/>
                </a:solidFill>
              </a:rPr>
              <a:t>x</a:t>
            </a:r>
            <a:r>
              <a:rPr lang="en" sz="1900">
                <a:solidFill>
                  <a:schemeClr val="dk1"/>
                </a:solidFill>
              </a:rPr>
              <a:t> is a </a:t>
            </a:r>
            <a:r>
              <a:rPr b="1" i="1" lang="en" sz="1900">
                <a:solidFill>
                  <a:schemeClr val="dk1"/>
                </a:solidFill>
              </a:rPr>
              <a:t>real number</a:t>
            </a:r>
            <a:r>
              <a:rPr lang="en" sz="1900">
                <a:solidFill>
                  <a:schemeClr val="dk1"/>
                </a:solidFill>
              </a:rPr>
              <a:t>, then</a:t>
            </a:r>
            <a:r>
              <a:rPr b="1" i="1" lang="en" sz="1900">
                <a:solidFill>
                  <a:schemeClr val="dk1"/>
                </a:solidFill>
              </a:rPr>
              <a:t> ⌊2x⌋ = ⌊x⌋ + ⌊x + 1⁄2⌋</a:t>
            </a:r>
            <a:r>
              <a:rPr lang="en" sz="1900">
                <a:solidFill>
                  <a:schemeClr val="dk1"/>
                </a:solidFill>
              </a:rPr>
              <a:t>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</a:rPr>
              <a:t>SOLUTION:</a:t>
            </a:r>
            <a:r>
              <a:rPr lang="en" sz="1900">
                <a:solidFill>
                  <a:schemeClr val="dk1"/>
                </a:solidFill>
              </a:rPr>
              <a:t> To prove this statement we let </a:t>
            </a:r>
            <a:r>
              <a:rPr b="1" i="1" lang="en" sz="1900">
                <a:solidFill>
                  <a:schemeClr val="dk1"/>
                </a:solidFill>
              </a:rPr>
              <a:t>x = n + 𝜖</a:t>
            </a:r>
            <a:r>
              <a:rPr lang="en" sz="1900">
                <a:solidFill>
                  <a:schemeClr val="dk1"/>
                </a:solidFill>
              </a:rPr>
              <a:t>, where </a:t>
            </a:r>
            <a:r>
              <a:rPr b="1" i="1" lang="en" sz="1900">
                <a:solidFill>
                  <a:schemeClr val="dk1"/>
                </a:solidFill>
              </a:rPr>
              <a:t>n</a:t>
            </a:r>
            <a:r>
              <a:rPr lang="en" sz="1900">
                <a:solidFill>
                  <a:schemeClr val="dk1"/>
                </a:solidFill>
              </a:rPr>
              <a:t> is an integer and </a:t>
            </a:r>
            <a:r>
              <a:rPr b="1" i="1" lang="en" sz="1900">
                <a:solidFill>
                  <a:schemeClr val="dk1"/>
                </a:solidFill>
              </a:rPr>
              <a:t>0 ≤ 𝜖 &lt; 1</a:t>
            </a:r>
            <a:r>
              <a:rPr lang="en" sz="1900">
                <a:solidFill>
                  <a:schemeClr val="dk1"/>
                </a:solidFill>
              </a:rPr>
              <a:t>. There Examples are two cases to consider, depending on whether </a:t>
            </a:r>
            <a:r>
              <a:rPr b="1" i="1" lang="en" sz="1900">
                <a:solidFill>
                  <a:schemeClr val="dk1"/>
                </a:solidFill>
              </a:rPr>
              <a:t>𝜖</a:t>
            </a:r>
            <a:r>
              <a:rPr lang="en" sz="1900">
                <a:solidFill>
                  <a:schemeClr val="dk1"/>
                </a:solidFill>
              </a:rPr>
              <a:t> is l</a:t>
            </a:r>
            <a:r>
              <a:rPr b="1" i="1" lang="en" sz="1900">
                <a:solidFill>
                  <a:schemeClr val="dk1"/>
                </a:solidFill>
              </a:rPr>
              <a:t>ess than, or greater than or equal to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lang="en" sz="1900">
                <a:solidFill>
                  <a:schemeClr val="dk1"/>
                </a:solidFill>
              </a:rPr>
              <a:t> . (The reason we choose these two cases will be made clear in the proof.) 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946"/>
              <a:buFont typeface="Arial"/>
              <a:buNone/>
            </a:pPr>
            <a:r>
              <a:rPr lang="en" sz="1900">
                <a:solidFill>
                  <a:schemeClr val="dk1"/>
                </a:solidFill>
              </a:rPr>
              <a:t>We first consider the case when </a:t>
            </a:r>
            <a:r>
              <a:rPr b="1" i="1" lang="en" sz="1900">
                <a:solidFill>
                  <a:schemeClr val="dk1"/>
                </a:solidFill>
              </a:rPr>
              <a:t>0 ≤ 𝜖 &lt;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lang="en" sz="1900">
                <a:solidFill>
                  <a:schemeClr val="dk1"/>
                </a:solidFill>
              </a:rPr>
              <a:t> . In this case, </a:t>
            </a:r>
            <a:r>
              <a:rPr b="1" i="1" lang="en" sz="1900">
                <a:solidFill>
                  <a:schemeClr val="dk1"/>
                </a:solidFill>
              </a:rPr>
              <a:t>2x = 2n + 2𝜖</a:t>
            </a:r>
            <a:r>
              <a:rPr lang="en" sz="1900">
                <a:solidFill>
                  <a:schemeClr val="dk1"/>
                </a:solidFill>
              </a:rPr>
              <a:t> and </a:t>
            </a:r>
            <a:r>
              <a:rPr b="1" i="1" lang="en" sz="1900">
                <a:solidFill>
                  <a:schemeClr val="dk1"/>
                </a:solidFill>
              </a:rPr>
              <a:t>⌊2x⌋ = 2n</a:t>
            </a:r>
            <a:r>
              <a:rPr lang="en" sz="1900">
                <a:solidFill>
                  <a:schemeClr val="dk1"/>
                </a:solidFill>
              </a:rPr>
              <a:t> because </a:t>
            </a:r>
            <a:r>
              <a:rPr b="1" i="1" lang="en" sz="1900">
                <a:solidFill>
                  <a:schemeClr val="dk1"/>
                </a:solidFill>
              </a:rPr>
              <a:t>0 ≤ 2𝜖 &lt; 1</a:t>
            </a:r>
            <a:r>
              <a:rPr lang="en" sz="1900">
                <a:solidFill>
                  <a:schemeClr val="dk1"/>
                </a:solidFill>
              </a:rPr>
              <a:t>. Similarly, </a:t>
            </a:r>
            <a:r>
              <a:rPr b="1" i="1" lang="en" sz="1900">
                <a:solidFill>
                  <a:schemeClr val="dk1"/>
                </a:solidFill>
              </a:rPr>
              <a:t>x +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b="1" i="1" lang="en" sz="1900">
                <a:solidFill>
                  <a:schemeClr val="dk1"/>
                </a:solidFill>
              </a:rPr>
              <a:t> = n + ( </a:t>
            </a:r>
            <a:r>
              <a:rPr b="1" i="1" lang="en" sz="1900">
                <a:solidFill>
                  <a:schemeClr val="dk1"/>
                </a:solidFill>
              </a:rPr>
              <a:t>1⁄2 </a:t>
            </a:r>
            <a:r>
              <a:rPr b="1" i="1" lang="en" sz="1900">
                <a:solidFill>
                  <a:schemeClr val="dk1"/>
                </a:solidFill>
              </a:rPr>
              <a:t>+ 𝜖)</a:t>
            </a:r>
            <a:r>
              <a:rPr lang="en" sz="1900">
                <a:solidFill>
                  <a:schemeClr val="dk1"/>
                </a:solidFill>
              </a:rPr>
              <a:t>, so </a:t>
            </a:r>
            <a:r>
              <a:rPr b="1" i="1" lang="en" sz="1900">
                <a:solidFill>
                  <a:schemeClr val="dk1"/>
                </a:solidFill>
              </a:rPr>
              <a:t>⌊x +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b="1" i="1" lang="en" sz="1900">
                <a:solidFill>
                  <a:schemeClr val="dk1"/>
                </a:solidFill>
              </a:rPr>
              <a:t> ⌋ = n</a:t>
            </a:r>
            <a:r>
              <a:rPr lang="en" sz="1900">
                <a:solidFill>
                  <a:schemeClr val="dk1"/>
                </a:solidFill>
              </a:rPr>
              <a:t>, because </a:t>
            </a:r>
            <a:r>
              <a:rPr b="1" i="1" lang="en" sz="1900">
                <a:solidFill>
                  <a:schemeClr val="dk1"/>
                </a:solidFill>
              </a:rPr>
              <a:t>0 &lt;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b="1" i="1" lang="en" sz="1900">
                <a:solidFill>
                  <a:schemeClr val="dk1"/>
                </a:solidFill>
              </a:rPr>
              <a:t> + 𝜖 &lt; 1</a:t>
            </a:r>
            <a:r>
              <a:rPr lang="en" sz="1900">
                <a:solidFill>
                  <a:schemeClr val="dk1"/>
                </a:solidFill>
              </a:rPr>
              <a:t>. Consequently, </a:t>
            </a:r>
            <a:r>
              <a:rPr b="1" i="1" lang="en" sz="1900">
                <a:solidFill>
                  <a:schemeClr val="dk1"/>
                </a:solidFill>
              </a:rPr>
              <a:t>⌊2x⌋ = 2n</a:t>
            </a:r>
            <a:r>
              <a:rPr lang="en" sz="1900">
                <a:solidFill>
                  <a:schemeClr val="dk1"/>
                </a:solidFill>
              </a:rPr>
              <a:t> and</a:t>
            </a:r>
            <a:r>
              <a:rPr b="1" i="1" lang="en" sz="1900">
                <a:solidFill>
                  <a:schemeClr val="dk1"/>
                </a:solidFill>
              </a:rPr>
              <a:t> ⌊x⌋ + ⌊x + </a:t>
            </a:r>
            <a:r>
              <a:rPr b="1" i="1" lang="en" sz="1900">
                <a:solidFill>
                  <a:schemeClr val="dk1"/>
                </a:solidFill>
              </a:rPr>
              <a:t>1⁄2 </a:t>
            </a:r>
            <a:r>
              <a:rPr b="1" i="1" lang="en" sz="1900">
                <a:solidFill>
                  <a:schemeClr val="dk1"/>
                </a:solidFill>
              </a:rPr>
              <a:t>⌋ = n + n = 2n.</a:t>
            </a:r>
            <a:endParaRPr b="1" i="1" sz="2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628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133">
                <a:latin typeface="Comic Sans MS"/>
                <a:ea typeface="Comic Sans MS"/>
                <a:cs typeface="Comic Sans MS"/>
                <a:sym typeface="Comic Sans MS"/>
              </a:rPr>
              <a:t>Examples</a:t>
            </a:r>
            <a:endParaRPr b="1" sz="3133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</a:rPr>
              <a:t>Next, we consider the case when </a:t>
            </a:r>
            <a:r>
              <a:rPr b="1" i="1" lang="en" sz="1900">
                <a:solidFill>
                  <a:schemeClr val="dk1"/>
                </a:solidFill>
              </a:rPr>
              <a:t>1⁄2 </a:t>
            </a:r>
            <a:r>
              <a:rPr b="1" i="1" lang="en" sz="1900">
                <a:solidFill>
                  <a:schemeClr val="dk1"/>
                </a:solidFill>
              </a:rPr>
              <a:t> ≤ 𝜖 &lt; 1</a:t>
            </a:r>
            <a:r>
              <a:rPr lang="en" sz="1900">
                <a:solidFill>
                  <a:schemeClr val="dk1"/>
                </a:solidFill>
              </a:rPr>
              <a:t>. In this case, </a:t>
            </a:r>
            <a:r>
              <a:rPr b="1" i="1" lang="en" sz="1900">
                <a:solidFill>
                  <a:schemeClr val="dk1"/>
                </a:solidFill>
              </a:rPr>
              <a:t>2x = 2n + 2𝜖 = (2n + 1) + (2𝜖 − 1)</a:t>
            </a:r>
            <a:r>
              <a:rPr lang="en" sz="1900">
                <a:solidFill>
                  <a:schemeClr val="dk1"/>
                </a:solidFill>
              </a:rPr>
              <a:t>. Because </a:t>
            </a:r>
            <a:r>
              <a:rPr b="1" i="1" lang="en" sz="1900">
                <a:solidFill>
                  <a:schemeClr val="dk1"/>
                </a:solidFill>
              </a:rPr>
              <a:t>0 ≤ 2𝜖 − 1 &lt; 1</a:t>
            </a:r>
            <a:r>
              <a:rPr lang="en" sz="1900">
                <a:solidFill>
                  <a:schemeClr val="dk1"/>
                </a:solidFill>
              </a:rPr>
              <a:t>, it follows that </a:t>
            </a:r>
            <a:r>
              <a:rPr b="1" i="1" lang="en" sz="1900">
                <a:solidFill>
                  <a:schemeClr val="dk1"/>
                </a:solidFill>
              </a:rPr>
              <a:t>⌊2x⌋ = 2n + 1</a:t>
            </a:r>
            <a:r>
              <a:rPr lang="en" sz="1900">
                <a:solidFill>
                  <a:schemeClr val="dk1"/>
                </a:solidFill>
              </a:rPr>
              <a:t>. Because </a:t>
            </a:r>
            <a:r>
              <a:rPr b="1" i="1" lang="en" sz="1900">
                <a:solidFill>
                  <a:schemeClr val="dk1"/>
                </a:solidFill>
              </a:rPr>
              <a:t>⌊x +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b="1" i="1" lang="en" sz="1900">
                <a:solidFill>
                  <a:schemeClr val="dk1"/>
                </a:solidFill>
              </a:rPr>
              <a:t>⌋ = ⌊n + (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b="1" i="1" lang="en" sz="1900">
                <a:solidFill>
                  <a:schemeClr val="dk1"/>
                </a:solidFill>
              </a:rPr>
              <a:t> + 𝜖)⌋ = ⌊n + 1 + (𝜖 − </a:t>
            </a:r>
            <a:r>
              <a:rPr b="1" i="1" lang="en" sz="1900">
                <a:solidFill>
                  <a:schemeClr val="dk1"/>
                </a:solidFill>
              </a:rPr>
              <a:t>1⁄2 </a:t>
            </a:r>
            <a:r>
              <a:rPr b="1" i="1" lang="en" sz="1900">
                <a:solidFill>
                  <a:schemeClr val="dk1"/>
                </a:solidFill>
              </a:rPr>
              <a:t>)⌋</a:t>
            </a:r>
            <a:r>
              <a:rPr lang="en" sz="1900">
                <a:solidFill>
                  <a:schemeClr val="dk1"/>
                </a:solidFill>
              </a:rPr>
              <a:t> and</a:t>
            </a:r>
            <a:r>
              <a:rPr b="1" i="1" lang="en" sz="1900">
                <a:solidFill>
                  <a:schemeClr val="dk1"/>
                </a:solidFill>
              </a:rPr>
              <a:t> 0 ≤ 𝜖 − </a:t>
            </a:r>
            <a:r>
              <a:rPr b="1" i="1" lang="en" sz="1900">
                <a:solidFill>
                  <a:schemeClr val="dk1"/>
                </a:solidFill>
              </a:rPr>
              <a:t>1⁄2 </a:t>
            </a:r>
            <a:r>
              <a:rPr b="1" i="1" lang="en" sz="1900">
                <a:solidFill>
                  <a:schemeClr val="dk1"/>
                </a:solidFill>
              </a:rPr>
              <a:t>&lt; 1</a:t>
            </a:r>
            <a:r>
              <a:rPr lang="en" sz="1900">
                <a:solidFill>
                  <a:schemeClr val="dk1"/>
                </a:solidFill>
              </a:rPr>
              <a:t>, it follows that </a:t>
            </a:r>
            <a:r>
              <a:rPr b="1" i="1" lang="en" sz="1900">
                <a:solidFill>
                  <a:schemeClr val="dk1"/>
                </a:solidFill>
              </a:rPr>
              <a:t>⌊x +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b="1" i="1" lang="en" sz="1900">
                <a:solidFill>
                  <a:schemeClr val="dk1"/>
                </a:solidFill>
              </a:rPr>
              <a:t>⌋ = n + 1.</a:t>
            </a:r>
            <a:r>
              <a:rPr lang="en" sz="1900">
                <a:solidFill>
                  <a:schemeClr val="dk1"/>
                </a:solidFill>
              </a:rPr>
              <a:t> Consequently, </a:t>
            </a:r>
            <a:r>
              <a:rPr b="1" i="1" lang="en" sz="1900">
                <a:solidFill>
                  <a:schemeClr val="dk1"/>
                </a:solidFill>
              </a:rPr>
              <a:t>⌊2x⌋ = 2n + 1 and ⌊x⌋ + ⌊x + </a:t>
            </a:r>
            <a:r>
              <a:rPr b="1" i="1" lang="en" sz="1900">
                <a:solidFill>
                  <a:schemeClr val="dk1"/>
                </a:solidFill>
              </a:rPr>
              <a:t>1⁄2</a:t>
            </a:r>
            <a:r>
              <a:rPr b="1" i="1" lang="en" sz="1900">
                <a:solidFill>
                  <a:schemeClr val="dk1"/>
                </a:solidFill>
              </a:rPr>
              <a:t>⌋ = n + (n + 1) = 2n + 1.</a:t>
            </a:r>
            <a:r>
              <a:rPr lang="en" sz="1900">
                <a:solidFill>
                  <a:schemeClr val="dk1"/>
                </a:solidFill>
              </a:rPr>
              <a:t> This concludes the proof.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/>
        </p:nvSpPr>
        <p:spPr>
          <a:xfrm>
            <a:off x="311700" y="22854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20">
                <a:solidFill>
                  <a:srgbClr val="000000"/>
                </a:solidFill>
              </a:rPr>
              <a:t>Thank You</a:t>
            </a:r>
            <a:endParaRPr sz="512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